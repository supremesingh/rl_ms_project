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825cc5df8b4234" /><Relationship Type="http://schemas.openxmlformats.org/officeDocument/2006/relationships/extended-properties" Target="/docProps/app.xml" Id="R02eae3703bfb4ca6" /><Relationship Type="http://schemas.openxmlformats.org/officeDocument/2006/relationships/officeDocument" Target="/ppt/presentation.xml" Id="R846dd7c39de3455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dbd1e10c0cb410b"/>
  </p:sldMasterIdLst>
  <p:notesMasterIdLst>
    <p:notesMasterId xmlns:r="http://schemas.openxmlformats.org/officeDocument/2006/relationships" r:id="R3bc563304d084928"/>
  </p:notesMasterIdLst>
  <p:sldIdLst>
    <p:sldId xmlns:r="http://schemas.openxmlformats.org/officeDocument/2006/relationships" id="256" r:id="R3061ae449a7e4655"/>
    <p:sldId xmlns:r="http://schemas.openxmlformats.org/officeDocument/2006/relationships" id="257" r:id="Rdd406c84f2f34f9f"/>
    <p:sldId xmlns:r="http://schemas.openxmlformats.org/officeDocument/2006/relationships" id="258" r:id="R082468284cc640c1"/>
    <p:sldId xmlns:r="http://schemas.openxmlformats.org/officeDocument/2006/relationships" id="259" r:id="R2584595594b241cc"/>
    <p:sldId xmlns:r="http://schemas.openxmlformats.org/officeDocument/2006/relationships" id="260" r:id="Rdae03a1135bd4ad1"/>
    <p:sldId xmlns:r="http://schemas.openxmlformats.org/officeDocument/2006/relationships" id="261" r:id="R150d50ef23084161"/>
    <p:sldId xmlns:r="http://schemas.openxmlformats.org/officeDocument/2006/relationships" id="262" r:id="R3b641895dbbc48b9"/>
    <p:sldId xmlns:r="http://schemas.openxmlformats.org/officeDocument/2006/relationships" id="263" r:id="R44877ba705fd4344"/>
    <p:sldId xmlns:r="http://schemas.openxmlformats.org/officeDocument/2006/relationships" id="264" r:id="R02e1d03d628544da"/>
    <p:sldId xmlns:r="http://schemas.openxmlformats.org/officeDocument/2006/relationships" id="265" r:id="Rd39f5fad17054701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2881d3ed6268420b"/>
      <p:bold xmlns:r="http://schemas.openxmlformats.org/officeDocument/2006/relationships" r:id="R2b400f37d7634b1a"/>
      <p:italic xmlns:r="http://schemas.openxmlformats.org/officeDocument/2006/relationships" r:id="R79cb31d98bfb4deb"/>
      <p:boldItalic xmlns:r="http://schemas.openxmlformats.org/officeDocument/2006/relationships" r:id="R4f2036587e73485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8a94f0273247ae" /><Relationship Type="http://schemas.openxmlformats.org/officeDocument/2006/relationships/slideMaster" Target="/ppt/slideMasters/slideMaster1.xml" Id="R8dbd1e10c0cb410b" /><Relationship Type="http://schemas.openxmlformats.org/officeDocument/2006/relationships/notesMaster" Target="/ppt/notesMasters/notesMaster1.xml" Id="R3bc563304d084928" /><Relationship Type="http://schemas.openxmlformats.org/officeDocument/2006/relationships/presProps" Target="/ppt/presProps.xml" Id="Rbbddd4dee10447ab" /><Relationship Type="http://schemas.openxmlformats.org/officeDocument/2006/relationships/viewProps" Target="/ppt/viewProps.xml" Id="Rac28e6fac86c4573" /><Relationship Type="http://schemas.openxmlformats.org/officeDocument/2006/relationships/tableStyles" Target="/ppt/tableStyles.xml" Id="R6e10580d839e432d" /><Relationship Type="http://schemas.openxmlformats.org/officeDocument/2006/relationships/font" Target="/ppt/fonts/font.dat" Id="R2881d3ed6268420b" /><Relationship Type="http://schemas.openxmlformats.org/officeDocument/2006/relationships/font" Target="/ppt/fonts/font2.dat" Id="R2b400f37d7634b1a" /><Relationship Type="http://schemas.openxmlformats.org/officeDocument/2006/relationships/font" Target="/ppt/fonts/font3.dat" Id="R79cb31d98bfb4deb" /><Relationship Type="http://schemas.openxmlformats.org/officeDocument/2006/relationships/font" Target="/ppt/fonts/font4.dat" Id="R4f2036587e73485b" /><Relationship Type="http://schemas.openxmlformats.org/officeDocument/2006/relationships/slide" Target="/ppt/slides/slide1.xml" Id="R3061ae449a7e4655" /><Relationship Type="http://schemas.openxmlformats.org/officeDocument/2006/relationships/slide" Target="/ppt/slides/slide2.xml" Id="Rdd406c84f2f34f9f" /><Relationship Type="http://schemas.openxmlformats.org/officeDocument/2006/relationships/slide" Target="/ppt/slides/slide3.xml" Id="R082468284cc640c1" /><Relationship Type="http://schemas.openxmlformats.org/officeDocument/2006/relationships/slide" Target="/ppt/slides/slide4.xml" Id="R2584595594b241cc" /><Relationship Type="http://schemas.openxmlformats.org/officeDocument/2006/relationships/slide" Target="/ppt/slides/slide5.xml" Id="Rdae03a1135bd4ad1" /><Relationship Type="http://schemas.openxmlformats.org/officeDocument/2006/relationships/slide" Target="/ppt/slides/slide6.xml" Id="R150d50ef23084161" /><Relationship Type="http://schemas.openxmlformats.org/officeDocument/2006/relationships/slide" Target="/ppt/slides/slide7.xml" Id="R3b641895dbbc48b9" /><Relationship Type="http://schemas.openxmlformats.org/officeDocument/2006/relationships/slide" Target="/ppt/slides/slide8.xml" Id="R44877ba705fd4344" /><Relationship Type="http://schemas.openxmlformats.org/officeDocument/2006/relationships/slide" Target="/ppt/slides/slide9.xml" Id="R02e1d03d628544da" /><Relationship Type="http://schemas.openxmlformats.org/officeDocument/2006/relationships/slide" Target="/ppt/slides/slide10.xml" Id="Rd39f5fad170547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35bca2b8fc40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8e6591316143f6" /><Relationship Type="http://schemas.openxmlformats.org/officeDocument/2006/relationships/notesMaster" Target="/ppt/notesMasters/notesMaster1.xml" Id="R51a84142ef8b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4ed36e2c9245df" /><Relationship Type="http://schemas.openxmlformats.org/officeDocument/2006/relationships/notesMaster" Target="/ppt/notesMasters/notesMaster1.xml" Id="Rdd22b51ca46446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89440d061847e5" /><Relationship Type="http://schemas.openxmlformats.org/officeDocument/2006/relationships/notesMaster" Target="/ppt/notesMasters/notesMaster1.xml" Id="Re57435e8b27943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4dbc021af64595" /><Relationship Type="http://schemas.openxmlformats.org/officeDocument/2006/relationships/notesMaster" Target="/ppt/notesMasters/notesMaster1.xml" Id="R5ac565ebb37e4a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fd727371a64676" /><Relationship Type="http://schemas.openxmlformats.org/officeDocument/2006/relationships/notesMaster" Target="/ppt/notesMasters/notesMaster1.xml" Id="R1eff387bae8640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b6f0ce541f4007" /><Relationship Type="http://schemas.openxmlformats.org/officeDocument/2006/relationships/notesMaster" Target="/ppt/notesMasters/notesMaster1.xml" Id="Rddbb8d7888d64f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1e00a4bdc947d8" /><Relationship Type="http://schemas.openxmlformats.org/officeDocument/2006/relationships/notesMaster" Target="/ppt/notesMasters/notesMaster1.xml" Id="Rb5c763adc09a41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f916752a8343d6" /><Relationship Type="http://schemas.openxmlformats.org/officeDocument/2006/relationships/notesMaster" Target="/ppt/notesMasters/notesMaster1.xml" Id="R6f1b7b6e775441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1d79577dbf4a06" /><Relationship Type="http://schemas.openxmlformats.org/officeDocument/2006/relationships/notesMaster" Target="/ppt/notesMasters/notesMaster1.xml" Id="Rd7f46e0686e04b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c15c6f69a14f02" /><Relationship Type="http://schemas.openxmlformats.org/officeDocument/2006/relationships/notesMaster" Target="/ppt/notesMasters/notesMaster1.xml" Id="Rfb9b493c64ba48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codebase and experiment plan. Model: Qwen/Qwen2.5-Math-1.5B base checkpoint, not the instruct variant.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hypothesis test. A conventional critic can still win; that outcome is informative.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/Users/manmit/Downloads/1707.06347v2.pdf (PPO Algorithms); /Users/manmit/Downloads/2605.07579v2.pdf (Your Language Model is Its Own Critic / POISE); project plan notes for the LSTD and shallow-update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target is a success probability under the binary terminal reward, although an unconstrained linear head may predict outside [0, 1].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is an editable diagram. Slurm handles allocation; the container provides the pinned runtime; VERL owns the algorithmic loop; our code supplies prompts, rewards, configuration, launch orchestration and audits.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methods use the same actor, prompt, reward contract and clipped policy update. Their variance-reduction mechanisms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initial comparison has fresh trajectories, no cross-policy replay, causal pre-token features, matched features/data/regularization/initialization and equal-data plus equal-fitting-time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return regression predicts well but TD(0) does not, test matched TD(λ) and LSTD(λ) before concluding token-level value learning fails. Critic λ is distinct from GAE 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from Duke job 12589388: PPO report and GRPO report both returned execution_check_pass=true; validation reward mean@1 remained 0.96875 at steps 0, 5 and 10. Stage 1 review report remains development-only and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immediate next experiment is frozen-actor critic evaluation. A frozen-actor win does not guarantee online PPO success; the online pilots test that link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47c02955e46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5e48697374b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4b1f325a845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7079ab0934b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3e58316f94d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8a10561764a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805eb62064d8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0614006184df4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496be6c65543fd" /><Relationship Type="http://schemas.openxmlformats.org/officeDocument/2006/relationships/slideLayout" Target="/ppt/slideLayouts/slideLayout1.xml" Id="R27af84a5223b4128" /><Relationship Type="http://schemas.openxmlformats.org/officeDocument/2006/relationships/slideLayout" Target="/ppt/slideLayouts/slideLayout2.xml" Id="R34d7ec4cb3f64e64" /><Relationship Type="http://schemas.openxmlformats.org/officeDocument/2006/relationships/slideLayout" Target="/ppt/slideLayouts/slideLayout3.xml" Id="Re275b3dc69a04b62" /><Relationship Type="http://schemas.openxmlformats.org/officeDocument/2006/relationships/slideLayout" Target="/ppt/slideLayouts/slideLayout4.xml" Id="R012d513505664655" /><Relationship Type="http://schemas.openxmlformats.org/officeDocument/2006/relationships/slideLayout" Target="/ppt/slideLayouts/slideLayout5.xml" Id="R03741e53d3d64bee" /><Relationship Type="http://schemas.openxmlformats.org/officeDocument/2006/relationships/slideLayout" Target="/ppt/slideLayouts/slideLayout6.xml" Id="Rc39f6b941cf7413a" /><Relationship Type="http://schemas.openxmlformats.org/officeDocument/2006/relationships/slideLayout" Target="/ppt/slideLayouts/slideLayout7.xml" Id="R14e7a6cc12a24ef0" /><Relationship Type="http://schemas.openxmlformats.org/officeDocument/2006/relationships/slideLayout" Target="/ppt/slideLayouts/slideLayout8.xml" Id="R9d52a76c22214b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af84a5223b4128"/>
    <p:sldLayoutId xmlns:r="http://schemas.openxmlformats.org/officeDocument/2006/relationships" id="2147483650" r:id="R34d7ec4cb3f64e64"/>
    <p:sldLayoutId xmlns:r="http://schemas.openxmlformats.org/officeDocument/2006/relationships" id="2147483651" r:id="Re275b3dc69a04b62"/>
    <p:sldLayoutId xmlns:r="http://schemas.openxmlformats.org/officeDocument/2006/relationships" id="2147483652" r:id="R012d513505664655"/>
    <p:sldLayoutId xmlns:r="http://schemas.openxmlformats.org/officeDocument/2006/relationships" id="2147483653" r:id="R03741e53d3d64bee"/>
    <p:sldLayoutId xmlns:r="http://schemas.openxmlformats.org/officeDocument/2006/relationships" id="2147483654" r:id="Rc39f6b941cf7413a"/>
    <p:sldLayoutId xmlns:r="http://schemas.openxmlformats.org/officeDocument/2006/relationships" id="2147483655" r:id="R14e7a6cc12a24ef0"/>
    <p:sldLayoutId xmlns:r="http://schemas.openxmlformats.org/officeDocument/2006/relationships" id="2147483656" r:id="R9d52a76c22214b2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a6af1dd044598" /><Relationship Type="http://schemas.openxmlformats.org/officeDocument/2006/relationships/notesSlide" Target="/ppt/notesSlides/notesSlide1.xml" Id="R7993f19a61f1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e9e8070036e4ab9" /><Relationship Type="http://schemas.openxmlformats.org/officeDocument/2006/relationships/notesSlide" Target="/ppt/notesSlides/notesSlide2.xml" Id="Rae87f69cfd54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3623f27a8f24224" /><Relationship Type="http://schemas.openxmlformats.org/officeDocument/2006/relationships/notesSlide" Target="/ppt/notesSlides/notesSlide3.xml" Id="R048eda65c14a42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b112000f5134a10" /><Relationship Type="http://schemas.openxmlformats.org/officeDocument/2006/relationships/notesSlide" Target="/ppt/notesSlides/notesSlide4.xml" Id="Rb2c650a8b0ef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7d78f92895c442f" /><Relationship Type="http://schemas.openxmlformats.org/officeDocument/2006/relationships/notesSlide" Target="/ppt/notesSlides/notesSlide5.xml" Id="Rd1ff7f55b40443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614ef4bb3544dd9" /><Relationship Type="http://schemas.openxmlformats.org/officeDocument/2006/relationships/notesSlide" Target="/ppt/notesSlides/notesSlide6.xml" Id="R33b79c57be9949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d57c526160e4663" /><Relationship Type="http://schemas.openxmlformats.org/officeDocument/2006/relationships/notesSlide" Target="/ppt/notesSlides/notesSlide7.xml" Id="R2e705c0b0aee45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0377d1873604e14" /><Relationship Type="http://schemas.openxmlformats.org/officeDocument/2006/relationships/notesSlide" Target="/ppt/notesSlides/notesSlide8.xml" Id="R2f71f21cf31148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0b952d19c614462" /><Relationship Type="http://schemas.openxmlformats.org/officeDocument/2006/relationships/notesSlide" Target="/ppt/notesSlides/notesSlide9.xml" Id="Re993f4100f1e4f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5683fb812514eb1" /><Relationship Type="http://schemas.openxmlformats.org/officeDocument/2006/relationships/notesSlide" Target="/ppt/notesSlides/notesSlide10.xml" Id="R01c65534d60346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19108-B9A2-47B0-A7B1-CE31C5F7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MATH RL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DAC9F-0ECB-4F6B-B339-27174C08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Learning with the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model’s own internal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AA959-66E5-4F47-95B6-7672C317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908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PPO, GRPO and lightweight token-level critics for verified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910EC-DACD-4D52-A85D-9586FA1E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433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D98CB-C554-49AF-81D5-56E264BD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29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Qwen2.5-Math-1.5B  ·  GSM8K  ·  Math-Verify  ·  VERL  ·  Duke GPU cluster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22953-215A-47AD-9870-7FA573BC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293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Project briefing</a:t>
            </a:r>
          </a:p>
        </p:txBody>
      </p:sp>
    </p:spTree>
    <p:extLst>
      <p:ext uri="{BB962C8B-B14F-4D97-AF65-F5344CB8AC3E}">
        <p14:creationId xmlns:p14="http://schemas.microsoft.com/office/powerpoint/2010/main" val="1310734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8D43A-F37C-484C-9A9F-BECAE63C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MATH RL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F6C10-D8E6-4363-B651-2A84F723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00385-4EB6-45C3-9876-B0A95742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53374-B628-4A11-B158-D246340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 a language model supply the information needed for its own inexpensive critic?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0A5EB-66CB-4A19-8D9E-2EC9DF41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We test whether a small value head on the actor’s existing hidden states can guide PPO as well as a conventional critic, at lower fitting and memory cost.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39CA2-5F82-4739-98EF-7CB3331D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387B5-94F4-40D3-B869-14DE7594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6D7AA-94F1-44F8-961D-03D90B2B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DC1E5-1FD3-406B-97D1-4D82B2AF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00500"/>
            <a:ext cx="785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The LLM writes a solution one token at a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EB820-E4EA-4570-BBD5-B30B30ED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B5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6F18A-DFDB-454E-B6E8-1F28D5BD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Critic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2DB78-AB25-4E07-A0CA-F3FB8BC0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10100"/>
            <a:ext cx="785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A value estimate asks: “How likely is this unfinished solution to succeed?”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C1225-8912-48A9-87BC-DACA8BA6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3317B-B865-4D4F-9843-3D1BA38C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B7915-25D1-4E06-B546-AE1F6262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219700"/>
            <a:ext cx="7858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Compare semi-gradient TD and LSTD under matched data, features and compute.</a:t>
            </a:r>
          </a:p>
        </p:txBody>
      </p:sp>
    </p:spTree>
    <p:extLst>
      <p:ext uri="{BB962C8B-B14F-4D97-AF65-F5344CB8AC3E}">
        <p14:creationId xmlns:p14="http://schemas.microsoft.com/office/powerpoint/2010/main" val="18103235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4BDAB-F680-4877-A236-C87C54CF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PRIOR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D5EC0-3355-4D94-9C16-3EB83F0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DC7FF-6F7D-42B1-842B-F3ACAF8E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prior work contributes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067E4-5F6A-4BAF-BE8D-A2D2172C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Paper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7AC15-A408-44D9-A587-E9D75387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Lesson used here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1D8B7-903E-4464-B783-4E4005EF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3E43A-2974-4784-B919-B2366B0C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PPO Algorithms</a:t>
            </a:r>
          </a:p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Schulman et al., 2017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2715A-C1C4-4F95-A797-1551E22A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Clipped probability ratios support several updates on one sampled batch.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18F15-0003-4C43-80F0-2898D055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11AC8-08CB-4479-9348-D9BFF05B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Your Language Model is Its Own Critic</a:t>
            </a:r>
          </a:p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Choi et al., 2026 · POISE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EC8C4-28BF-4B03-84CC-D8B9FEC6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Actor hidden states can support a low-cost value baseline for verifiable rewards.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38391-72D5-4D90-AE87-3C7D9FDD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07D9E-B6CB-416C-8EC9-08A814BF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Least-Squares Policy Iteration</a:t>
            </a:r>
          </a:p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Lagoudakis &amp; Parr, 2003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BE501-3E11-4C9B-981A-C12D5427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Least-squares Bellman evaluation motivates an LSTD critic solver.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031C5-F75C-4C1D-80BE-E1548463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117E5-0B36-4FDA-9AFD-4E9CBB4D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Shallow value updates</a:t>
            </a:r>
          </a:p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Project synthesis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CA899-E888-4F24-890E-6972A9E4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Keep the deep representation fixed while testing cheap, controlled head fitting.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9BBE7-D44C-4BDC-952D-B5243343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9837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14D3B-1639-4317-96A1-15EB8D7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RL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A2A7E-5900-44DE-B598-A85532C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7F20E-004D-4237-B6AE-68382314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RL problem in one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571F8-2BFA-40CB-97B1-317B9FAF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048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45165-020A-4CEC-BF82-61D09579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rPr>
              <a:t>One generated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68609-5460-45A6-B4E9-807B6AA3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state  sₜ = (question, tokens before t)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action  aₜ = next token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terminal reward  rₜ = 1 if Math-Verify says correct, else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B767D-4FBB-4391-B404-DCEE8859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The reward arrives at the end. Every earlier token needs a credit signal.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4E2E8-98EB-4CA5-90EA-A9A03586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09700"/>
            <a:ext cx="51625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B23C3-15E7-46FE-92B2-199B737B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rPr>
              <a:t>Value before the next 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919C5-992B-428A-8FA4-61D22AB3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Vπ(sₜ) = E[r_terminal | sₜ]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90AAF-DE97-4A53-AA8C-225FD08F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908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The critic predicts the chance that the current prefix will eventually earn reward 1 under the current actor.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A829C-6BBD-4A64-9878-FE2BCCD7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Causal rule: read φθ(sₜ) before choosing aₜ.</a:t>
            </a:r>
          </a:p>
        </p:txBody>
      </p:sp>
    </p:spTree>
    <p:extLst>
      <p:ext uri="{BB962C8B-B14F-4D97-AF65-F5344CB8AC3E}">
        <p14:creationId xmlns:p14="http://schemas.microsoft.com/office/powerpoint/2010/main" val="92322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DD3B5-B909-4DB7-816D-3562C27B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52B70-F611-4548-A58F-AD3FB03F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6083E-B461-4399-99BB-CFA0D5A9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6FBB3-333D-49E5-A36C-1DAE815F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1905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2D5B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70054-5ACD-4E29-BF13-74A23978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rPr>
              <a:t>Slurm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34B15-BD81-4ED2-A3BE-63DE891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Allocates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A5000 GPUs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9D22E-1580-4590-B060-B7647097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242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5734D-CEE0-49BC-A85A-AD673730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6220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ADD17-0857-49D7-834C-173958CE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90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Container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7AFE1-8A79-4390-AF5A-8A75C976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480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Pins CUDA,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PyTorch and VERL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C2F8E-FE13-42DB-85F8-3BD3988D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242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80106-F68D-44ED-A824-BDDD47D4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7F3"/>
          </a:solidFill>
          <a:ln xmlns:a="http://schemas.openxmlformats.org/drawingml/2006/main" w="9525">
            <a:solidFill>
              <a:srgbClr val="167A6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82676-3CFC-4890-B2F7-C0F32B9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7A64"/>
                </a:solidFill>
                <a:latin typeface="Helvetica Neue"/>
                <a:ea typeface="Helvetica Neue"/>
                <a:cs typeface="Helvetica Neue"/>
              </a:rPr>
              <a:t>VERL + Ray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BE118-1634-4406-A2E6-6BB144A9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Runs the RL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training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35A95-0684-400E-851C-30FFCE64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242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1D23C-3867-41FB-BD6D-E3301681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62200"/>
            <a:ext cx="1809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2D5B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CA980-2000-43B2-A5C1-C67118C0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rPr>
              <a:t>vLLM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CC4D3-91D9-4AF8-8A53-E24432A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480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Generates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rollouts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313E3-FA4F-4429-9FDC-4FCB63D7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242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A0045-8A9D-4CC7-B8A5-E85E41F9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62200"/>
            <a:ext cx="20478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E45B5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1FD52-0692-48DE-A434-ED9C00C2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90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rPr>
              <a:t>Math-Verify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587FE-021E-460E-8817-9C4B487E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48000"/>
            <a:ext cx="166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Returns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 or 1 reward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B1223-B389-4855-A3A4-0417BEE0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03AD4-D773-484D-9A3C-E1AB9BBE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PyTorch + FSDP update the actor and PPO critic. Checkpoints, rollouts and reports remain separate for PPO and GRPO.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51DD8E-2C0A-4781-9B48-61D3E870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combined Slurm job: two GPUs for PPO, two GPUs for GRPO.</a:t>
            </a:r>
          </a:p>
        </p:txBody>
      </p:sp>
    </p:spTree>
    <p:extLst>
      <p:ext uri="{BB962C8B-B14F-4D97-AF65-F5344CB8AC3E}">
        <p14:creationId xmlns:p14="http://schemas.microsoft.com/office/powerpoint/2010/main" val="2139350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A1D58-7603-426A-B1F3-F295B1BC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ALGORITHMS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0D5A0-B406-4243-92BF-10C4651D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A5B2E-A5EE-46E5-92D7-A593B7AB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Two policy-gradient baselines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C2847-271F-4819-AFEC-1907E011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048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D76F5-DF0D-486D-9771-FBBCA498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rPr>
              <a:t>PPO + GAE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1C947-EF72-4580-A089-725A906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δₜ = rₜ + γV(sₜ₊₁) − V(sₜ)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Aₜ = Σₗ (γλ)ˡ δₜ₊ₗ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ρₜ = πθ(aₜ|sₜ) / πold(aₜ|sₜ)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 = min(ρₜAₜ, clip(ρₜ)Aₜ)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A578C-2782-4C3B-8F39-C2139E78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One answer per question in this pilot. A separate critic predicts values and GAE spreads the terminal signal backward.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D8F19-18E9-43E4-9027-94F33756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1625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45FB5-2421-4103-B799-DB66CDA0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rPr>
              <a:t>GRPO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EB63A-CD49-48BB-AF11-9D04C45C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Aᵢ = (rᵢ − mean(r₁…rₙ))</a:t>
            </a:r>
          </a:p>
          <a:p xmlns:a="http://schemas.openxmlformats.org/drawingml/2006/main">
            <a:pPr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     / (std(r₁…rₙ) + ε)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D85E4-7066-4F7D-B158-AD03E0EA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57625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Four answers per question. Answers above their group mean get positive advantage; below-mean answers get negative advantage.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D5E81-89DC-4955-A796-DFD15809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053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critic and no GAE in this baseline.</a:t>
            </a:r>
          </a:p>
        </p:txBody>
      </p:sp>
    </p:spTree>
    <p:extLst>
      <p:ext uri="{BB962C8B-B14F-4D97-AF65-F5344CB8AC3E}">
        <p14:creationId xmlns:p14="http://schemas.microsoft.com/office/powerpoint/2010/main" val="1957232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873D3-B1C3-44FE-82E1-E5DFDC79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CRITIC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CC83C-4CD2-4ADB-830E-8F82C4EB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EB1FD-9BDF-41E1-9B76-2A102598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lightweight critic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008BC-1056-44ED-AD68-69245AC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Reuse the actor representation. Learn only a small head.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3D0AF-BCCF-43BF-A9F7-D38F4033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9686C-A5F9-4C9B-9ECE-A7668247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rPr>
              <a:t>Actor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50CA3-EBB5-4633-A306-94E7CA47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φθ(sₜ)</a:t>
            </a:r>
          </a:p>
          <a:p xmlns:a="http://schemas.openxmlformats.org/drawingml/2006/main">
            <a:pPr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= hidden state of the prefix</a:t>
            </a:r>
          </a:p>
          <a:p xmlns:a="http://schemas.openxmlformats.org/drawingml/2006/main">
            <a:pPr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before action aₜ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291B4-2127-4C77-9637-32772C6D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07AA5-CBD2-47F4-8BE7-A85F6B9C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43125"/>
            <a:ext cx="2809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3876E-E8D9-4CB2-BB9A-523164B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288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7A64"/>
                </a:solidFill>
                <a:latin typeface="Helvetica Neue"/>
                <a:ea typeface="Helvetica Neue"/>
                <a:cs typeface="Helvetica Neue"/>
              </a:rPr>
              <a:t>Small value head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73B75-218B-4F30-AD03-A0BC8332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90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V̂(sₜ) = wᵀφθ(sₜ)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97FBD-AD16-4C68-A89C-7457BD3E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05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Only w changes</a:t>
            </a:r>
          </a:p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during fitting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AADF4-B687-4AF1-9478-74A9CF9A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D67BB-82B3-42C8-806B-18774D15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43125"/>
            <a:ext cx="18764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601AC-53FC-4590-A4A9-EC9FA449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28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rPr>
              <a:t>Compare solvers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4A2744-230D-4169-AEFC-16C210C0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90875"/>
            <a:ext cx="138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TD(0)</a:t>
            </a:r>
          </a:p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LSTD(0)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6189C-0EBC-44D5-A48C-0F4F33B0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BED6E-E467-4716-B464-CFE86B58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Semi-gradient TD:  w ← w + α δₜ φθ(sₜ), with the next-state prediction detached.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6EA17-2BBC-4107-8393-B795F0D5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LSTD: solve the regularized batch equations  (A + ηI)w = b.</a:t>
            </a:r>
          </a:p>
        </p:txBody>
      </p:sp>
    </p:spTree>
    <p:extLst>
      <p:ext uri="{BB962C8B-B14F-4D97-AF65-F5344CB8AC3E}">
        <p14:creationId xmlns:p14="http://schemas.microsoft.com/office/powerpoint/2010/main" val="809578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A0175-D9FB-40DC-8C4E-AC30DA24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A8A1C-D8D4-46C6-AC60-DC0205BD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2AC56-9CAD-4514-8D26-F521848C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Experimental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7BE60-01A6-4F58-B25D-8FC77FC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FBCA1-FAC6-4A8A-A95D-A61A4B3F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573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Reward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94745-0854-4AD9-99E7-01F47C45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573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Use Math-Verify; separate wrong answers, parse failures and truncation.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2F1B8-EEA2-4FC5-85D1-B5F07011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9C739-40D2-4CE9-B2DA-510152AA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6252B-F13F-4904-A147-9733E9B1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955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PPO 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55485-2F36-49AD-811A-59576CB9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955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Validate conventional PPO/GAE, critic updates and checkpoint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57721-57E9-4797-9B18-93B4E51F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4F763-C19E-4B8A-8CA0-CFFD10C5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B00A7-7131-4312-89A9-9D1141F0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Frozen 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350F1-E9F9-47BB-821E-31835E2E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337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Hold Qwen fixed; compare TD-small, TD-large, LSTD and return regression.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3E82A-545F-4329-B7B1-AA054D38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81B4B-D4A8-4E59-A209-9556872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D0AE5-BA0A-4F44-ABBC-293CBE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719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Online PPO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FB193-90EA-4A56-84EE-B575B2A6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719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Connect each lightweight critic to fresh-policy PPO.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7F5E3-F424-4BA2-9E71-46FCF98D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F6F19-2C80-40DB-A365-4350C0E5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2BFE8-C9F1-4FC3-9C2F-26878B2E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0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Final comparison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E666E-F3A5-404E-B94F-D9DCDD6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Use ≥3 seeds; report accuracy per generated token and GPU-hour.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23926-12F9-4282-9A5F-FEDCAB93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4BFB98-9C15-46E7-AB8C-5462EC6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Controls: prompt-level cross-fitting, no initial cross-policy replay, detached critic fitting, matched regularization, and honest compute accounting.</a:t>
            </a:r>
          </a:p>
        </p:txBody>
      </p:sp>
    </p:spTree>
    <p:extLst>
      <p:ext uri="{BB962C8B-B14F-4D97-AF65-F5344CB8AC3E}">
        <p14:creationId xmlns:p14="http://schemas.microsoft.com/office/powerpoint/2010/main" val="7463303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113F44-768F-4E53-9B80-9E55EBF9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89820-3B2A-4E61-AE00-F7FC8EFA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9357E-EAEB-46E9-A335-62E5288C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Work completed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F1057-D6B4-4EB5-AB81-2E84E393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Milestone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BEACA-9898-4BF8-8F8A-FA94B93B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428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D0317-FFA8-4F78-9B09-A2F99A4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A4B82-78F1-4ECF-AE84-0B82FBD8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28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1002A-E1FD-4BA1-812F-1A3BEBA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40AA9-5F46-4BCE-B62F-BD1F7AFA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Stage 1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1B3B9-2907-4699-8A6E-4CB28EC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19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200 responses</a:t>
            </a:r>
          </a:p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10 reviewed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7C913-77A4-4275-948C-DAE05FC6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100% agreement</a:t>
            </a:r>
          </a:p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 reviewed 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8B189-566F-4D24-AC60-E0D71FEF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19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Audit still incomplete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EAD14-B798-4307-901F-37CDD8E7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E61EB-05D3-43B3-8E26-BA568210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PPO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8523C-83EC-44E4-BC94-93ECFB6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765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10 updates</a:t>
            </a:r>
          </a:p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160 train responses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91335-DCEC-4E6D-A7F7-31F9E427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31/32 validation</a:t>
            </a:r>
          </a:p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initial and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D51DE-B3FE-41D3-9505-F57914F0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765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Execution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A0AB3-1ACF-450F-879E-8ACF7982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F95D9-F43A-4E72-9B96-1D306126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GRPO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B1129-9815-4DB9-AE20-B32E14E0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338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10 updates</a:t>
            </a:r>
          </a:p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320 train responses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58C62-E169-458A-A332-36C4592E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31/32 validation</a:t>
            </a:r>
          </a:p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initial and final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7A7C5-3127-4269-ADA5-8B8EE918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338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Execution passed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5189C-7912-4A41-9B65-D8F655C9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24B96-3F10-4DF3-AA87-C8981089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Infrastructure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AAA8E-00FF-4891-9246-DE6A47FC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91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Duke A5000</a:t>
            </a:r>
          </a:p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4 GPUs total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91999-185A-4DD7-8D64-19C0B243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Actor gradients,</a:t>
            </a:r>
          </a:p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checkpoints, reports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E60ED5-D1B4-4F95-ADBE-D5735832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5910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Learning gain unproven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563CE-58AF-452C-8028-E7FFA00C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3AA33-4134-4EB0-B6B2-FC341E5C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45B52"/>
                </a:solidFill>
                <a:latin typeface="Helvetica Neue"/>
                <a:ea typeface="Helvetica Neue"/>
                <a:cs typeface="Helvetica Neue"/>
              </a:rPr>
              <a:t>Pilot reports prove that the machinery runs. They do not prove improved math accuracy or a useful critic.</a:t>
            </a:r>
          </a:p>
        </p:txBody>
      </p:sp>
    </p:spTree>
    <p:extLst>
      <p:ext uri="{BB962C8B-B14F-4D97-AF65-F5344CB8AC3E}">
        <p14:creationId xmlns:p14="http://schemas.microsoft.com/office/powerpoint/2010/main" val="4082432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97561-84CE-44B4-90F4-F686A0FE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B7BAD-1137-491C-B048-EC74D742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6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B919C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3DD77-424D-480D-BAFD-F192DDBF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654FB-D774-40F6-B8B6-0AE21610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  Evaluate base, PPO and GRPO on 500 held-out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87ECC-EED4-4D51-97AA-ED77727A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Same prompts, greedy decoding and Math-Verify. Report wrong to right and right to wrong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526D6-5B0F-4E62-A6D6-E6AEBDDC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  Freeze the actor and benchmark the critics.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AE4F1-321F-477D-988C-3EF70F6B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Compare TD-small, TD-large, LSTD and return regression on held-out prefixes and continuations.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F6C77-D8D3-4E2B-98A5-1ED3A264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  Run short online PPO pilots with the best heads.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9F791-73A0-484E-8B6E-02880937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470"/>
                </a:solidFill>
                <a:latin typeface="Helvetica Neue"/>
                <a:ea typeface="Helvetica Neue"/>
                <a:cs typeface="Helvetica Neue"/>
              </a:rPr>
              <a:t>Keep data fresh and measure whether value quality translates into policy improvement.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8A9FD-909E-4793-8D70-AF8C0EA0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E6E64-12B7-4C81-98D6-495D0D6A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D5BFF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3A429-E4F9-4F30-8BC2-3BF32C96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340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validated accuracy–compute comparison among lightweight critics, with conventional PPO as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114657968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2026-09-14T19:42:42.8690000Z</dcterms:created>
  <dcterms:modified xsi:type="dcterms:W3CDTF">2026-09-14T19:42:42.8690000Z</dcterms:modified>
</coreProperties>
</file>